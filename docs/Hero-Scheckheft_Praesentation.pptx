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1DACD32-18D9-40B5-9DDD-A2EE6986986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0AA2D5-ADF2-448C-BC45-15196CC3D7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889B1C-2A2D-4356-A8BE-80B8909295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8A350E-1C14-4D19-9B05-717CB24A53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B90C0E-AE0F-43DA-972F-B564ECE290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4572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ProtocolHero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548640" y="1234440"/>
            <a:ext cx="1325520" cy="219240"/>
          </a:xfrm>
          <a:prstGeom prst="roundRect">
            <a:avLst>
              <a:gd name="adj" fmla="val 50000"/>
            </a:avLst>
          </a:prstGeom>
          <a:solidFill>
            <a:srgbClr val="C2B27A"/>
          </a:solidFill>
          <a:ln w="12700">
            <a:solidFill>
              <a:srgbClr val="C2B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1234440"/>
            <a:ext cx="1325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4-Wochen-Wette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1600200"/>
            <a:ext cx="4754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4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Hero Scheckheft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246888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500" b="0" u="none" strike="noStrike">
                <a:solidFill>
                  <a:srgbClr val="E6E6E6"/>
                </a:solidFill>
                <a:effectLst/>
                <a:uFillTx/>
                <a:latin typeface="Arial"/>
                <a:ea typeface="Arial"/>
              </a:rPr>
              <a:t>Jede abgeschlossene Einreichung wird automatisch zum Eintrag im digitalen Service-Heft des Objekts – beim Eigentümer.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48640" y="32918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100" b="0" u="none" strike="noStrike">
                <a:solidFill>
                  <a:srgbClr val="A8A8A8"/>
                </a:solidFill>
                <a:effectLst/>
                <a:uFillTx/>
                <a:latin typeface="Arial"/>
                <a:ea typeface="Arial"/>
              </a:rPr>
              <a:t>Wie das Scheckheft beim Auto – für Hausbesitzer, Vermieter, Verwaltungen, Firmen und Makler.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5897880" y="502920"/>
            <a:ext cx="2514240" cy="41144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6200">
            <a:solidFill>
              <a:srgbClr val="3A3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126480" y="77724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3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Einfamilienhaus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6126480" y="103320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8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Lindenstraße 12, 50823 Köln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6080760" y="1371600"/>
            <a:ext cx="21484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6190560" y="146304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Prüfung elektrischer Anlagen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6190560" y="1700640"/>
            <a:ext cx="776880" cy="219240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 w="12700">
            <a:solidFill>
              <a:srgbClr val="E7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6190560" y="1700640"/>
            <a:ext cx="776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00" b="1" u="none" strike="noStrike">
                <a:solidFill>
                  <a:srgbClr val="1F8A4C"/>
                </a:solidFill>
                <a:effectLst/>
                <a:uFillTx/>
                <a:latin typeface="Arial"/>
                <a:ea typeface="Arial"/>
              </a:rPr>
              <a:t>in Ordnung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6190560" y="197496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7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nächste: in 4 Jahren · Elektro Stosic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6080760" y="2331720"/>
            <a:ext cx="21484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6190560" y="2423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Heizungswartung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6190560" y="2660760"/>
            <a:ext cx="776880" cy="219240"/>
          </a:xfrm>
          <a:prstGeom prst="roundRect">
            <a:avLst>
              <a:gd name="adj" fmla="val 50000"/>
            </a:avLst>
          </a:prstGeom>
          <a:solidFill>
            <a:srgbClr val="F6F2E3"/>
          </a:solidFill>
          <a:ln w="12700">
            <a:solidFill>
              <a:srgbClr val="F6F2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6190560" y="2660760"/>
            <a:ext cx="776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00" b="1" u="none" strike="noStrike">
                <a:solidFill>
                  <a:srgbClr val="A8964F"/>
                </a:solidFill>
                <a:effectLst/>
                <a:uFillTx/>
                <a:latin typeface="Arial"/>
                <a:ea typeface="Arial"/>
              </a:rPr>
              <a:t>bald fällig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6190560" y="293508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7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fällig in 21 Tagen · SHK Becker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6080760" y="3355920"/>
            <a:ext cx="2148480" cy="383760"/>
          </a:xfrm>
          <a:prstGeom prst="roundRect">
            <a:avLst>
              <a:gd name="adj" fmla="val 19048"/>
            </a:avLst>
          </a:prstGeom>
          <a:solidFill>
            <a:srgbClr val="171717"/>
          </a:solidFill>
          <a:ln w="12700">
            <a:solidFill>
              <a:srgbClr val="1717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6080760" y="3355920"/>
            <a:ext cx="2148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Termin anfragen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6035040" y="411480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8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Übersicht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6784920" y="411480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8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Historie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7534800" y="411480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8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Dokumente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548640" y="434340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0" u="none" strike="noStrike">
                <a:solidFill>
                  <a:srgbClr val="A8A8A8"/>
                </a:solidFill>
                <a:effectLst/>
                <a:uFillTx/>
                <a:latin typeface="Arial"/>
                <a:ea typeface="Arial"/>
              </a:rPr>
              <a:t>Predrag Stošić · 02.10.2026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457200" y="347400"/>
            <a:ext cx="685440" cy="219240"/>
          </a:xfrm>
          <a:prstGeom prst="roundRect">
            <a:avLst>
              <a:gd name="adj" fmla="val 50000"/>
            </a:avLst>
          </a:prstGeom>
          <a:solidFill>
            <a:srgbClr val="E5E5E5"/>
          </a:solidFill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457200" y="347400"/>
            <a:ext cx="685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Heute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457200" y="6400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30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Der Nachweis endet als PDF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457200" y="11887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2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ProtocolHero macht die Dokumentation beim Betrieb sauber – aber beim Eigentümer reißt die Kette ab.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4"/>
          <p:cNvSpPr/>
          <p:nvPr/>
        </p:nvSpPr>
        <p:spPr>
          <a:xfrm>
            <a:off x="457200" y="1783080"/>
            <a:ext cx="1874160" cy="1416960"/>
          </a:xfrm>
          <a:prstGeom prst="roundRect">
            <a:avLst>
              <a:gd name="adj" fmla="val 6452"/>
            </a:avLst>
          </a:prstGeom>
          <a:solidFill>
            <a:srgbClr val="FAFAFA"/>
          </a:solidFill>
          <a:ln w="9525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621720" y="1947600"/>
            <a:ext cx="310680" cy="3106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621720" y="1947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621720" y="2350080"/>
            <a:ext cx="1545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2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Vor Ort ausfüllen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621720" y="2651760"/>
            <a:ext cx="1545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Monteur erfasst Messwerte, Fotos, Unterschrift – auch offline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2377440" y="2491560"/>
            <a:ext cx="228600" cy="360"/>
          </a:xfrm>
          <a:prstGeom prst="line">
            <a:avLst/>
          </a:prstGeom>
          <a:ln w="15875">
            <a:solidFill>
              <a:srgbClr val="6B6B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0"/>
          <p:cNvSpPr/>
          <p:nvPr/>
        </p:nvSpPr>
        <p:spPr>
          <a:xfrm>
            <a:off x="2651760" y="1783080"/>
            <a:ext cx="1874160" cy="1416960"/>
          </a:xfrm>
          <a:prstGeom prst="roundRect">
            <a:avLst>
              <a:gd name="adj" fmla="val 6452"/>
            </a:avLst>
          </a:prstGeom>
          <a:solidFill>
            <a:srgbClr val="FAFAFA"/>
          </a:solidFill>
          <a:ln w="9525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2816280" y="1947600"/>
            <a:ext cx="310680" cy="3106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2816280" y="1947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2816280" y="2350080"/>
            <a:ext cx="1545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2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Prüfung &amp; Freigabe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2816280" y="2651760"/>
            <a:ext cx="1545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Meister prüft im Büro und gibt frei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5"/>
          <p:cNvSpPr/>
          <p:nvPr/>
        </p:nvSpPr>
        <p:spPr>
          <a:xfrm>
            <a:off x="4572000" y="2491560"/>
            <a:ext cx="228600" cy="360"/>
          </a:xfrm>
          <a:prstGeom prst="line">
            <a:avLst/>
          </a:prstGeom>
          <a:ln w="15875">
            <a:solidFill>
              <a:srgbClr val="6B6B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6"/>
          <p:cNvSpPr/>
          <p:nvPr/>
        </p:nvSpPr>
        <p:spPr>
          <a:xfrm>
            <a:off x="4846320" y="1783080"/>
            <a:ext cx="1874160" cy="1416960"/>
          </a:xfrm>
          <a:prstGeom prst="roundRect">
            <a:avLst>
              <a:gd name="adj" fmla="val 6452"/>
            </a:avLst>
          </a:prstGeom>
          <a:solidFill>
            <a:srgbClr val="FAFAFA"/>
          </a:solidFill>
          <a:ln w="9525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7"/>
          <p:cNvSpPr/>
          <p:nvPr/>
        </p:nvSpPr>
        <p:spPr>
          <a:xfrm>
            <a:off x="5010840" y="1947600"/>
            <a:ext cx="310680" cy="3106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8"/>
          <p:cNvSpPr/>
          <p:nvPr/>
        </p:nvSpPr>
        <p:spPr>
          <a:xfrm>
            <a:off x="5010840" y="1947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9"/>
          <p:cNvSpPr/>
          <p:nvPr/>
        </p:nvSpPr>
        <p:spPr>
          <a:xfrm>
            <a:off x="5010840" y="2350080"/>
            <a:ext cx="1545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2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Übergabe als PDF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5010840" y="2651760"/>
            <a:ext cx="1545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Einzelnes Dokument per Mail oder Link an den Kunden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1"/>
          <p:cNvSpPr/>
          <p:nvPr/>
        </p:nvSpPr>
        <p:spPr>
          <a:xfrm>
            <a:off x="6766560" y="2491560"/>
            <a:ext cx="228600" cy="360"/>
          </a:xfrm>
          <a:prstGeom prst="line">
            <a:avLst/>
          </a:prstGeom>
          <a:ln w="15875">
            <a:solidFill>
              <a:srgbClr val="D93F3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2"/>
          <p:cNvSpPr/>
          <p:nvPr/>
        </p:nvSpPr>
        <p:spPr>
          <a:xfrm>
            <a:off x="7040880" y="1783080"/>
            <a:ext cx="1874160" cy="1416960"/>
          </a:xfrm>
          <a:prstGeom prst="roundRect">
            <a:avLst>
              <a:gd name="adj" fmla="val 6452"/>
            </a:avLst>
          </a:prstGeom>
          <a:solidFill>
            <a:srgbClr val="FDECEC"/>
          </a:solidFill>
          <a:ln w="9525">
            <a:solidFill>
              <a:srgbClr val="F3C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3"/>
          <p:cNvSpPr/>
          <p:nvPr/>
        </p:nvSpPr>
        <p:spPr>
          <a:xfrm>
            <a:off x="7205400" y="194760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200" b="1" u="none" strike="noStrike">
                <a:solidFill>
                  <a:srgbClr val="D93F3F"/>
                </a:solidFill>
                <a:effectLst/>
                <a:uFillTx/>
                <a:latin typeface="Arial"/>
                <a:ea typeface="Arial"/>
              </a:rPr>
              <a:t>Und dann?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4"/>
          <p:cNvSpPr/>
          <p:nvPr/>
        </p:nvSpPr>
        <p:spPr>
          <a:xfrm>
            <a:off x="7205400" y="2286000"/>
            <a:ext cx="1645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3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de-DE" sz="950" b="0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Kunde erhält Einzel-PDFs und Links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3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de-DE" sz="950" b="0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Historie nur beim Betrieb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300"/>
              </a:spcAft>
              <a:buClr>
                <a:srgbClr val="111111"/>
              </a:buClr>
              <a:buFont typeface="Symbol" charset="2"/>
              <a:buChar char=""/>
            </a:pPr>
            <a:r>
              <a:rPr lang="de-DE" sz="950" b="0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Keine Erinnerung beim Kunden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5"/>
          <p:cNvSpPr/>
          <p:nvPr/>
        </p:nvSpPr>
        <p:spPr>
          <a:xfrm>
            <a:off x="457200" y="3474720"/>
            <a:ext cx="2605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1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Eigentümer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6"/>
          <p:cNvSpPr/>
          <p:nvPr/>
        </p:nvSpPr>
        <p:spPr>
          <a:xfrm>
            <a:off x="457200" y="3749040"/>
            <a:ext cx="2605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Dokumente verstreut über Ordner, Mail, WhatsApp und mehrere Betriebe – Hausakte-Apps muss er selbst befüllen.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7"/>
          <p:cNvSpPr/>
          <p:nvPr/>
        </p:nvSpPr>
        <p:spPr>
          <a:xfrm>
            <a:off x="3246120" y="3474720"/>
            <a:ext cx="2605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1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Betreiber / Firma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8"/>
          <p:cNvSpPr/>
          <p:nvPr/>
        </p:nvSpPr>
        <p:spPr>
          <a:xfrm>
            <a:off x="3246120" y="3749040"/>
            <a:ext cx="2605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Prüfpflicht (z. B. DGUV V3) bleibt beim Betreiber – Nachweise im Prüffall mühsam zu suchen.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9"/>
          <p:cNvSpPr/>
          <p:nvPr/>
        </p:nvSpPr>
        <p:spPr>
          <a:xfrm>
            <a:off x="6035040" y="3474720"/>
            <a:ext cx="2605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1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Betrieb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0"/>
          <p:cNvSpPr/>
          <p:nvPr/>
        </p:nvSpPr>
        <p:spPr>
          <a:xfrm>
            <a:off x="6035040" y="3749040"/>
            <a:ext cx="2605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Fällige Wartungen muss er intern nachhalten – der Kunde sieht nichts, der Folgeauftrag hängt am Nachfassen.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1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8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Konzept-Prototyp · fiktive Daten · Predrag Stošić · CTO Product Challenge ProtocolHero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457200" y="347400"/>
            <a:ext cx="1462680" cy="219240"/>
          </a:xfrm>
          <a:prstGeom prst="roundRect">
            <a:avLst>
              <a:gd name="adj" fmla="val 50000"/>
            </a:avLst>
          </a:prstGeom>
          <a:solidFill>
            <a:srgbClr val="C2B27A"/>
          </a:solidFill>
          <a:ln w="12700">
            <a:solidFill>
              <a:srgbClr val="C2B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457200" y="34740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Mit Hero Scheckheft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457200" y="6400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30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Aus dem PDF wird ein Kreislauf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457200" y="11887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2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Gleicher Ablauf für den Betrieb – ein Schalter mehr. Der Rest passiert automatisch.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457200" y="1691640"/>
            <a:ext cx="1462680" cy="1325520"/>
          </a:xfrm>
          <a:prstGeom prst="roundRect">
            <a:avLst>
              <a:gd name="adj" fmla="val 6897"/>
            </a:avLst>
          </a:prstGeom>
          <a:solidFill>
            <a:srgbClr val="FAFAFA"/>
          </a:solidFill>
          <a:ln w="9525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5"/>
          <p:cNvSpPr/>
          <p:nvPr/>
        </p:nvSpPr>
        <p:spPr>
          <a:xfrm>
            <a:off x="594360" y="1828800"/>
            <a:ext cx="310680" cy="3106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594360" y="1828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594360" y="21945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Einreichung abschließen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594360" y="2587680"/>
            <a:ext cx="1188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8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Schalter „Ins Scheckheft des Kunden“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9"/>
          <p:cNvSpPr/>
          <p:nvPr/>
        </p:nvSpPr>
        <p:spPr>
          <a:xfrm>
            <a:off x="1947600" y="2354400"/>
            <a:ext cx="173520" cy="360"/>
          </a:xfrm>
          <a:prstGeom prst="line">
            <a:avLst/>
          </a:prstGeom>
          <a:ln w="15875">
            <a:solidFill>
              <a:srgbClr val="6B6B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0"/>
          <p:cNvSpPr/>
          <p:nvPr/>
        </p:nvSpPr>
        <p:spPr>
          <a:xfrm>
            <a:off x="2148840" y="1691640"/>
            <a:ext cx="1462680" cy="1325520"/>
          </a:xfrm>
          <a:prstGeom prst="roundRect">
            <a:avLst>
              <a:gd name="adj" fmla="val 6897"/>
            </a:avLst>
          </a:prstGeom>
          <a:solidFill>
            <a:srgbClr val="F6F2E3"/>
          </a:solidFill>
          <a:ln w="9525">
            <a:solidFill>
              <a:srgbClr val="C2B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1"/>
          <p:cNvSpPr/>
          <p:nvPr/>
        </p:nvSpPr>
        <p:spPr>
          <a:xfrm>
            <a:off x="2286000" y="1828800"/>
            <a:ext cx="310680" cy="310680"/>
          </a:xfrm>
          <a:prstGeom prst="ellipse">
            <a:avLst/>
          </a:prstGeom>
          <a:solidFill>
            <a:srgbClr val="A8964F"/>
          </a:solidFill>
          <a:ln w="12700">
            <a:solidFill>
              <a:srgbClr val="A896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2286000" y="1828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2286000" y="21945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Automatisch im Scheckheft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2286000" y="2587680"/>
            <a:ext cx="1188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8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Protokoll, Fotos, Rechnung + nächste Fälligkeit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5"/>
          <p:cNvSpPr/>
          <p:nvPr/>
        </p:nvSpPr>
        <p:spPr>
          <a:xfrm>
            <a:off x="3639240" y="2354400"/>
            <a:ext cx="173520" cy="360"/>
          </a:xfrm>
          <a:prstGeom prst="line">
            <a:avLst/>
          </a:prstGeom>
          <a:ln w="15875">
            <a:solidFill>
              <a:srgbClr val="6B6B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6"/>
          <p:cNvSpPr/>
          <p:nvPr/>
        </p:nvSpPr>
        <p:spPr>
          <a:xfrm>
            <a:off x="3840480" y="1691640"/>
            <a:ext cx="1462680" cy="1325520"/>
          </a:xfrm>
          <a:prstGeom prst="roundRect">
            <a:avLst>
              <a:gd name="adj" fmla="val 6897"/>
            </a:avLst>
          </a:prstGeom>
          <a:solidFill>
            <a:srgbClr val="F6F2E3"/>
          </a:solidFill>
          <a:ln w="9525">
            <a:solidFill>
              <a:srgbClr val="C2B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7"/>
          <p:cNvSpPr/>
          <p:nvPr/>
        </p:nvSpPr>
        <p:spPr>
          <a:xfrm>
            <a:off x="3977640" y="1828800"/>
            <a:ext cx="310680" cy="310680"/>
          </a:xfrm>
          <a:prstGeom prst="ellipse">
            <a:avLst/>
          </a:prstGeom>
          <a:solidFill>
            <a:srgbClr val="A8964F"/>
          </a:solidFill>
          <a:ln w="12700">
            <a:solidFill>
              <a:srgbClr val="A896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3977640" y="1828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9"/>
          <p:cNvSpPr/>
          <p:nvPr/>
        </p:nvSpPr>
        <p:spPr>
          <a:xfrm>
            <a:off x="3977640" y="21945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Erinnerung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3977640" y="2587680"/>
            <a:ext cx="1188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8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Push &amp; Mail vor der Fälligkeit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1"/>
          <p:cNvSpPr/>
          <p:nvPr/>
        </p:nvSpPr>
        <p:spPr>
          <a:xfrm>
            <a:off x="5330880" y="2354400"/>
            <a:ext cx="173520" cy="360"/>
          </a:xfrm>
          <a:prstGeom prst="line">
            <a:avLst/>
          </a:prstGeom>
          <a:ln w="15875">
            <a:solidFill>
              <a:srgbClr val="6B6B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2"/>
          <p:cNvSpPr/>
          <p:nvPr/>
        </p:nvSpPr>
        <p:spPr>
          <a:xfrm>
            <a:off x="5532120" y="1691640"/>
            <a:ext cx="1462680" cy="1325520"/>
          </a:xfrm>
          <a:prstGeom prst="roundRect">
            <a:avLst>
              <a:gd name="adj" fmla="val 6897"/>
            </a:avLst>
          </a:prstGeom>
          <a:solidFill>
            <a:srgbClr val="F6F2E3"/>
          </a:solidFill>
          <a:ln w="9525">
            <a:solidFill>
              <a:srgbClr val="C2B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3"/>
          <p:cNvSpPr/>
          <p:nvPr/>
        </p:nvSpPr>
        <p:spPr>
          <a:xfrm>
            <a:off x="5669280" y="1828800"/>
            <a:ext cx="310680" cy="310680"/>
          </a:xfrm>
          <a:prstGeom prst="ellipse">
            <a:avLst/>
          </a:prstGeom>
          <a:solidFill>
            <a:srgbClr val="A8964F"/>
          </a:solidFill>
          <a:ln w="12700">
            <a:solidFill>
              <a:srgbClr val="A896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4"/>
          <p:cNvSpPr/>
          <p:nvPr/>
        </p:nvSpPr>
        <p:spPr>
          <a:xfrm>
            <a:off x="5669280" y="1828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5"/>
          <p:cNvSpPr/>
          <p:nvPr/>
        </p:nvSpPr>
        <p:spPr>
          <a:xfrm>
            <a:off x="5669280" y="21945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Termin anfragen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6"/>
          <p:cNvSpPr/>
          <p:nvPr/>
        </p:nvSpPr>
        <p:spPr>
          <a:xfrm>
            <a:off x="5669280" y="2587680"/>
            <a:ext cx="1188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8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Ein Tap → Karte auf dem Board des Betriebs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7"/>
          <p:cNvSpPr/>
          <p:nvPr/>
        </p:nvSpPr>
        <p:spPr>
          <a:xfrm>
            <a:off x="7022520" y="2354400"/>
            <a:ext cx="173520" cy="360"/>
          </a:xfrm>
          <a:prstGeom prst="line">
            <a:avLst/>
          </a:prstGeom>
          <a:ln w="15875">
            <a:solidFill>
              <a:srgbClr val="6B6B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8"/>
          <p:cNvSpPr/>
          <p:nvPr/>
        </p:nvSpPr>
        <p:spPr>
          <a:xfrm>
            <a:off x="7223760" y="1691640"/>
            <a:ext cx="1462680" cy="1325520"/>
          </a:xfrm>
          <a:prstGeom prst="roundRect">
            <a:avLst>
              <a:gd name="adj" fmla="val 6897"/>
            </a:avLst>
          </a:prstGeom>
          <a:solidFill>
            <a:srgbClr val="E7F6EC"/>
          </a:solidFill>
          <a:ln w="9525">
            <a:solidFill>
              <a:srgbClr val="BFE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9"/>
          <p:cNvSpPr/>
          <p:nvPr/>
        </p:nvSpPr>
        <p:spPr>
          <a:xfrm>
            <a:off x="7360920" y="1828800"/>
            <a:ext cx="310680" cy="310680"/>
          </a:xfrm>
          <a:prstGeom prst="ellipse">
            <a:avLst/>
          </a:prstGeom>
          <a:solidFill>
            <a:srgbClr val="1F8A4C"/>
          </a:solidFill>
          <a:ln w="12700">
            <a:solidFill>
              <a:srgbClr val="1F8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0"/>
          <p:cNvSpPr/>
          <p:nvPr/>
        </p:nvSpPr>
        <p:spPr>
          <a:xfrm>
            <a:off x="7360920" y="1828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1"/>
          <p:cNvSpPr/>
          <p:nvPr/>
        </p:nvSpPr>
        <p:spPr>
          <a:xfrm>
            <a:off x="7360920" y="21945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Folgeauftrag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2"/>
          <p:cNvSpPr/>
          <p:nvPr/>
        </p:nvSpPr>
        <p:spPr>
          <a:xfrm>
            <a:off x="7360920" y="2587680"/>
            <a:ext cx="1188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8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Wiederkehrender Umsatz für den Betrieb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3"/>
          <p:cNvSpPr/>
          <p:nvPr/>
        </p:nvSpPr>
        <p:spPr>
          <a:xfrm>
            <a:off x="7955280" y="3017520"/>
            <a:ext cx="360" cy="164520"/>
          </a:xfrm>
          <a:prstGeom prst="line">
            <a:avLst/>
          </a:prstGeom>
          <a:ln w="15875">
            <a:solidFill>
              <a:srgbClr val="A8964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4"/>
          <p:cNvSpPr/>
          <p:nvPr/>
        </p:nvSpPr>
        <p:spPr>
          <a:xfrm>
            <a:off x="1188720" y="3182040"/>
            <a:ext cx="6766560" cy="360"/>
          </a:xfrm>
          <a:prstGeom prst="line">
            <a:avLst/>
          </a:prstGeom>
          <a:ln w="15875">
            <a:solidFill>
              <a:srgbClr val="A8964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5"/>
          <p:cNvSpPr/>
          <p:nvPr/>
        </p:nvSpPr>
        <p:spPr>
          <a:xfrm flipV="1">
            <a:off x="1188720" y="3017520"/>
            <a:ext cx="360" cy="164520"/>
          </a:xfrm>
          <a:prstGeom prst="line">
            <a:avLst/>
          </a:prstGeom>
          <a:ln w="15875">
            <a:solidFill>
              <a:srgbClr val="A8964F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6"/>
          <p:cNvSpPr/>
          <p:nvPr/>
        </p:nvSpPr>
        <p:spPr>
          <a:xfrm>
            <a:off x="2926080" y="321876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00" b="0" i="1" u="none" strike="noStrike">
                <a:solidFill>
                  <a:srgbClr val="A8964F"/>
                </a:solidFill>
                <a:effectLst/>
                <a:uFillTx/>
                <a:latin typeface="Arial"/>
                <a:ea typeface="Arial"/>
              </a:rPr>
              <a:t>jede Fälligkeit wird zum nächsten Auftrag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7"/>
          <p:cNvSpPr/>
          <p:nvPr/>
        </p:nvSpPr>
        <p:spPr>
          <a:xfrm>
            <a:off x="457200" y="3611880"/>
            <a:ext cx="1919880" cy="74952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8"/>
          <p:cNvSpPr/>
          <p:nvPr/>
        </p:nvSpPr>
        <p:spPr>
          <a:xfrm>
            <a:off x="594360" y="372168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Betrieb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9"/>
          <p:cNvSpPr/>
          <p:nvPr/>
        </p:nvSpPr>
        <p:spPr>
          <a:xfrm>
            <a:off x="594360" y="39776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8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Re-Booking statt Kaltakquise, Kunde bleibt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0"/>
          <p:cNvSpPr/>
          <p:nvPr/>
        </p:nvSpPr>
        <p:spPr>
          <a:xfrm>
            <a:off x="2560320" y="3611880"/>
            <a:ext cx="1919880" cy="74952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1"/>
          <p:cNvSpPr/>
          <p:nvPr/>
        </p:nvSpPr>
        <p:spPr>
          <a:xfrm>
            <a:off x="2697480" y="372168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Eigentümer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2"/>
          <p:cNvSpPr/>
          <p:nvPr/>
        </p:nvSpPr>
        <p:spPr>
          <a:xfrm>
            <a:off x="2697480" y="39776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8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Alles an einem Ort, nichts mehr vergessen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43"/>
          <p:cNvSpPr/>
          <p:nvPr/>
        </p:nvSpPr>
        <p:spPr>
          <a:xfrm>
            <a:off x="4663440" y="3611880"/>
            <a:ext cx="1919880" cy="74952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4"/>
          <p:cNvSpPr/>
          <p:nvPr/>
        </p:nvSpPr>
        <p:spPr>
          <a:xfrm>
            <a:off x="4800600" y="372168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Portfolio / Firma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5"/>
          <p:cNvSpPr/>
          <p:nvPr/>
        </p:nvSpPr>
        <p:spPr>
          <a:xfrm>
            <a:off x="4800600" y="39776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8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Fristen &amp; Kosten über alle Objekte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6"/>
          <p:cNvSpPr/>
          <p:nvPr/>
        </p:nvSpPr>
        <p:spPr>
          <a:xfrm>
            <a:off x="6766560" y="3611880"/>
            <a:ext cx="1919880" cy="74952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7"/>
          <p:cNvSpPr/>
          <p:nvPr/>
        </p:nvSpPr>
        <p:spPr>
          <a:xfrm>
            <a:off x="6903720" y="372168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5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Makler &amp; Käufer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8"/>
          <p:cNvSpPr/>
          <p:nvPr/>
        </p:nvSpPr>
        <p:spPr>
          <a:xfrm>
            <a:off x="6903720" y="39776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85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Haus verkauft „scheckheftgepflegt“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9"/>
          <p:cNvSpPr/>
          <p:nvPr/>
        </p:nvSpPr>
        <p:spPr>
          <a:xfrm>
            <a:off x="457200" y="448056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Eine Metrik: </a:t>
            </a:r>
            <a:r>
              <a:rPr lang="de-DE" sz="9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Re-Booking-Rate – Anteil fälliger Prüfungen, die vor Fristablauf über das Scheckheft beim selben Betrieb beauftragt werden.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457200" y="274320"/>
            <a:ext cx="868320" cy="219240"/>
          </a:xfrm>
          <a:prstGeom prst="roundRect">
            <a:avLst>
              <a:gd name="adj" fmla="val 50000"/>
            </a:avLst>
          </a:prstGeom>
          <a:solidFill>
            <a:srgbClr val="C2B27A"/>
          </a:solidFill>
          <a:ln w="12700">
            <a:solidFill>
              <a:srgbClr val="C2B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457200" y="27432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Der Kreis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457200" y="54864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26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Wer hört wo auf?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0" descr="/home/claude/build/circle.png"/>
          <p:cNvPicPr/>
          <p:nvPr/>
        </p:nvPicPr>
        <p:blipFill>
          <a:blip r:embed="rId1"/>
          <a:stretch/>
        </p:blipFill>
        <p:spPr>
          <a:xfrm>
            <a:off x="274320" y="914400"/>
            <a:ext cx="4916520" cy="416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Shape 3"/>
          <p:cNvSpPr/>
          <p:nvPr/>
        </p:nvSpPr>
        <p:spPr>
          <a:xfrm>
            <a:off x="5282640" y="685800"/>
            <a:ext cx="3449520" cy="914040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 w="12700">
            <a:solidFill>
              <a:srgbClr val="D2D2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5419800" y="822960"/>
            <a:ext cx="127800" cy="12780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5630040" y="777240"/>
            <a:ext cx="299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2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ProtocolHero heute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5419800" y="1033200"/>
            <a:ext cx="3175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750" b="1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ERFASSEN → ÜBERGABE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5419800" y="1216080"/>
            <a:ext cx="3175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rgbClr val="3A3A3A"/>
                </a:solidFill>
                <a:effectLst/>
                <a:uFillTx/>
                <a:latin typeface="Arial"/>
                <a:ea typeface="Arial"/>
              </a:rPr>
              <a:t>Sauber beim Betrieb. Beim Kunden endet es als Einzel-PDF.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8"/>
          <p:cNvSpPr/>
          <p:nvPr/>
        </p:nvSpPr>
        <p:spPr>
          <a:xfrm>
            <a:off x="5282640" y="1710000"/>
            <a:ext cx="3449520" cy="914040"/>
          </a:xfrm>
          <a:prstGeom prst="roundRect">
            <a:avLst>
              <a:gd name="adj" fmla="val 8000"/>
            </a:avLst>
          </a:prstGeom>
          <a:solidFill>
            <a:srgbClr val="E7EDF4"/>
          </a:solidFill>
          <a:ln w="12700">
            <a:solidFill>
              <a:srgbClr val="7F93A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9"/>
          <p:cNvSpPr/>
          <p:nvPr/>
        </p:nvSpPr>
        <p:spPr>
          <a:xfrm>
            <a:off x="5419800" y="1847160"/>
            <a:ext cx="127800" cy="127800"/>
          </a:xfrm>
          <a:prstGeom prst="ellipse">
            <a:avLst/>
          </a:prstGeom>
          <a:solidFill>
            <a:srgbClr val="7F93AB"/>
          </a:solidFill>
          <a:ln w="12700">
            <a:solidFill>
              <a:srgbClr val="7F93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5630040" y="1801440"/>
            <a:ext cx="299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2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Hausakte-Apps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1"/>
          <p:cNvSpPr/>
          <p:nvPr/>
        </p:nvSpPr>
        <p:spPr>
          <a:xfrm>
            <a:off x="5419800" y="2057400"/>
            <a:ext cx="3175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750" b="1" u="none" strike="noStrike">
                <a:solidFill>
                  <a:srgbClr val="4D6079"/>
                </a:solidFill>
                <a:effectLst/>
                <a:uFillTx/>
                <a:latin typeface="Arial"/>
                <a:ea typeface="Arial"/>
              </a:rPr>
              <a:t>ABLAGE &amp; ERINNERUNG – MANUELL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2"/>
          <p:cNvSpPr/>
          <p:nvPr/>
        </p:nvSpPr>
        <p:spPr>
          <a:xfrm>
            <a:off x="5419800" y="2240280"/>
            <a:ext cx="3175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rgbClr val="3A3A3A"/>
                </a:solidFill>
                <a:effectLst/>
                <a:uFillTx/>
                <a:latin typeface="Arial"/>
                <a:ea typeface="Arial"/>
              </a:rPr>
              <a:t>Eigentümer scannt und pflegt selbst. Kein Datenfluss vom Betrieb.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3"/>
          <p:cNvSpPr/>
          <p:nvPr/>
        </p:nvSpPr>
        <p:spPr>
          <a:xfrm>
            <a:off x="5282640" y="2734200"/>
            <a:ext cx="3449520" cy="914040"/>
          </a:xfrm>
          <a:prstGeom prst="roundRect">
            <a:avLst>
              <a:gd name="adj" fmla="val 8000"/>
            </a:avLst>
          </a:prstGeom>
          <a:solidFill>
            <a:srgbClr val="F6F2E3"/>
          </a:solidFill>
          <a:ln w="22225">
            <a:solidFill>
              <a:srgbClr val="C2B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4"/>
          <p:cNvSpPr/>
          <p:nvPr/>
        </p:nvSpPr>
        <p:spPr>
          <a:xfrm>
            <a:off x="5419800" y="2871360"/>
            <a:ext cx="127800" cy="127800"/>
          </a:xfrm>
          <a:prstGeom prst="ellipse">
            <a:avLst/>
          </a:prstGeom>
          <a:solidFill>
            <a:srgbClr val="C2B27A"/>
          </a:solidFill>
          <a:ln w="12700">
            <a:solidFill>
              <a:srgbClr val="C2B2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5"/>
          <p:cNvSpPr/>
          <p:nvPr/>
        </p:nvSpPr>
        <p:spPr>
          <a:xfrm>
            <a:off x="5630040" y="2825640"/>
            <a:ext cx="299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200" b="1" u="none" strike="noStrik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Hero Scheckheft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6"/>
          <p:cNvSpPr/>
          <p:nvPr/>
        </p:nvSpPr>
        <p:spPr>
          <a:xfrm>
            <a:off x="5419800" y="3081600"/>
            <a:ext cx="3175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750" b="1" u="none" strike="noStrike">
                <a:solidFill>
                  <a:srgbClr val="A8964F"/>
                </a:solidFill>
                <a:effectLst/>
                <a:uFillTx/>
                <a:latin typeface="Arial"/>
                <a:ea typeface="Arial"/>
              </a:rPr>
              <a:t>HAUS → FOLGEAUFTRAG – AUTOMATISCH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7"/>
          <p:cNvSpPr/>
          <p:nvPr/>
        </p:nvSpPr>
        <p:spPr>
          <a:xfrm>
            <a:off x="5419800" y="3264480"/>
            <a:ext cx="3175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rgbClr val="3A3A3A"/>
                </a:solidFill>
                <a:effectLst/>
                <a:uFillTx/>
                <a:latin typeface="Arial"/>
                <a:ea typeface="Arial"/>
              </a:rPr>
              <a:t>Jede Einreichung landet im Heft des Objekts – über alle Betriebe. Der Kreis schließt sich.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8"/>
          <p:cNvSpPr/>
          <p:nvPr/>
        </p:nvSpPr>
        <p:spPr>
          <a:xfrm>
            <a:off x="5282640" y="3758040"/>
            <a:ext cx="3449520" cy="959760"/>
          </a:xfrm>
          <a:prstGeom prst="roundRect">
            <a:avLst>
              <a:gd name="adj" fmla="val 7619"/>
            </a:avLst>
          </a:prstGeom>
          <a:solidFill>
            <a:srgbClr val="171717"/>
          </a:solidFill>
          <a:ln w="12700">
            <a:solidFill>
              <a:srgbClr val="1717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9"/>
          <p:cNvSpPr/>
          <p:nvPr/>
        </p:nvSpPr>
        <p:spPr>
          <a:xfrm>
            <a:off x="5419800" y="3867840"/>
            <a:ext cx="3175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800" b="1" u="none" strike="noStrike">
                <a:solidFill>
                  <a:srgbClr val="C2B27A"/>
                </a:solidFill>
                <a:effectLst/>
                <a:uFillTx/>
                <a:latin typeface="Arial"/>
                <a:ea typeface="Arial"/>
              </a:rPr>
              <a:t>UNSER UNFAIRER VORTEIL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0"/>
          <p:cNvSpPr/>
          <p:nvPr/>
        </p:nvSpPr>
        <p:spPr>
          <a:xfrm>
            <a:off x="5419800" y="4087440"/>
            <a:ext cx="3175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Nur ProtocolHero sitzt dort, wo die Nachweise entstehen. Andere müssen Eigentümer zum Scannen bringen – wir füllen das Heft ohne ihr Zutun.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Application>LibreOffice/26.2.6.3$Windows_X86_64 LibreOffice_project/8221e31b3ac356a1623c672912a3d2b492f7e3d1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2026-10-01T13:28:25Z</dcterms:created>
  <dc:creator>Predrag Stošić</dc:creator>
  <dc:description/>
  <dc:language>en-US</dc:language>
  <cp:lastModifiedBy/>
  <dcterms:modified xsi:type="dcterms:W3CDTF">2026-10-01T19:32:43Z</dcterms:modified>
  <cp:revision>2</cp:revision>
  <dc:subject>PptxGenJS Presentation</dc:subject>
  <dc:title>Hero Scheckheft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On-screen Show (16:9)</vt:lpwstr>
  </property>
  <property fmtid="{D5CDD505-2E9C-101B-9397-08002B2CF9AE}" pid="4" name="Slides">
    <vt:i4>4</vt:i4>
  </property>
</Properties>
</file>